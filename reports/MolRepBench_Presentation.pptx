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3774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1A73E8"/>
                </a:solidFill>
                <a:latin typeface="Calibri"/>
              </a:rPr>
              <a:t>MINI PROJECT · PREDICTIVE TOXICOLOGY / AI IN DRUG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4600" b="1" i="0">
                <a:solidFill>
                  <a:srgbClr val="202124"/>
                </a:solidFill>
                <a:latin typeface="Calibri"/>
              </a:rPr>
              <a:t>MolRepBench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100" b="0" i="0">
                <a:solidFill>
                  <a:srgbClr val="5F6368"/>
                </a:solidFill>
                <a:latin typeface="Calibri"/>
              </a:rPr>
              <a:t>Interpretable Toxicity &amp; ADMET Screening from Molecular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18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 i="0">
                <a:solidFill>
                  <a:srgbClr val="202124"/>
                </a:solidFill>
                <a:latin typeface="Calibri"/>
              </a:rPr>
              <a:t>Which molecular representation actually works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 i="0">
                <a:solidFill>
                  <a:srgbClr val="202124"/>
                </a:solidFill>
                <a:latin typeface="Calibri"/>
              </a:rPr>
              <a:t>when the data is small and imbalanced —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 i="0">
                <a:solidFill>
                  <a:srgbClr val="202124"/>
                </a:solidFill>
                <a:latin typeface="Calibri"/>
              </a:rPr>
              <a:t>and can the model show its reasoning?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30175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2700" b="1" i="0">
                <a:solidFill>
                  <a:srgbClr val="1A73E8"/>
                </a:solidFill>
                <a:latin typeface="Calibri"/>
              </a:rPr>
              <a:t>12,063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5844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molecules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0175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2700" b="1" i="0">
                <a:solidFill>
                  <a:srgbClr val="1A73E8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5844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0175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2700" b="1" i="0">
                <a:solidFill>
                  <a:srgbClr val="1A73E8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5844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30175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2700" b="1" i="0">
                <a:solidFill>
                  <a:srgbClr val="1A73E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35844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00" b="0" i="0">
                <a:solidFill>
                  <a:srgbClr val="5F6368"/>
                </a:solidFill>
                <a:latin typeface="Calibri"/>
              </a:rPr>
              <a:t>scaffold splits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7150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202124"/>
                </a:solidFill>
                <a:latin typeface="Calibri"/>
              </a:rPr>
              <a:t>Shubham Gangwar   ·   MS23BTECH11027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0533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5F6368"/>
                </a:solidFill>
                <a:latin typeface="Calibri"/>
              </a:rPr>
              <a:t>Domain: Predictive Toxicology / AI in Drug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90% of drug candidates fail — toxicity is a leading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02124"/>
                </a:solidFill>
                <a:latin typeface="Calibri"/>
              </a:rPr>
              <a:t>— Failure is late and expensive.</a:t>
            </a:r>
            <a:r>
              <a:rPr sz="1450">
                <a:solidFill>
                  <a:srgbClr val="5F6368"/>
                </a:solidFill>
                <a:latin typeface="Calibri"/>
              </a:rPr>
              <a:t>  A compound that reaches Phase II before a toxicity signal appears has already consumed years of work and hundreds of millions of dollars.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02124"/>
                </a:solidFill>
                <a:latin typeface="Calibri"/>
              </a:rPr>
              <a:t>— Wet-lab screening cannot cover the space.</a:t>
            </a:r>
            <a:r>
              <a:rPr sz="1450">
                <a:solidFill>
                  <a:srgbClr val="5F6368"/>
                </a:solidFill>
                <a:latin typeface="Calibri"/>
              </a:rPr>
              <a:t>  Tox21 assayed ~8,000 compounds across 12 assays. Enumerable drug-like chemical space is ~10^60 molecules.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02124"/>
                </a:solidFill>
                <a:latin typeface="Calibri"/>
              </a:rPr>
              <a:t>— ADMET decides viability, not just potency.</a:t>
            </a:r>
            <a:r>
              <a:rPr sz="1450">
                <a:solidFill>
                  <a:srgbClr val="5F6368"/>
                </a:solidFill>
                <a:latin typeface="Calibri"/>
              </a:rPr>
              <a:t>  A potent molecule that cannot cross the blood-brain barrier, or is insoluble, is not a drug.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02124"/>
                </a:solidFill>
                <a:latin typeface="Calibri"/>
              </a:rPr>
              <a:t>— Regulatory pressure to reduce animal testing.</a:t>
            </a:r>
            <a:r>
              <a:rPr sz="1450">
                <a:solidFill>
                  <a:srgbClr val="5F6368"/>
                </a:solidFill>
                <a:latin typeface="Calibri"/>
              </a:rPr>
              <a:t>  The FDA Modernization Act 2.0 (2022) removed the blanket animal-testing requirement, raising the bar for computational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4846320" cy="192024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67728" y="1581912"/>
            <a:ext cx="4443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1984248"/>
            <a:ext cx="444398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A model that reads a molecule's structure and flags risk in milliseconds lets a chemist triage thousands of candidates before any are synthesised.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566160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67728" y="3730752"/>
            <a:ext cx="44439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The catch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4133088"/>
            <a:ext cx="444398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A black-box flag is not actionable. A chemist needs to know WHICH part of the molecule is responsible to design the problem away — and needs to know when the model is guessing about chemistry it has never seen.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WHAT THIS PROJECT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Problem statement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0" i="0">
                <a:solidFill>
                  <a:srgbClr val="202124"/>
                </a:solidFill>
                <a:latin typeface="Calibri"/>
              </a:rPr>
              <a:t>Build a system that predicts toxicity and ADMET risk from a molecule's SMILES string, establishes which molecular representation works better on small imbalanced data, and explains every prediction at the substructure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68880"/>
            <a:ext cx="5394960" cy="1572768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63347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1.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035808"/>
            <a:ext cx="499262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Descriptor models (ECFP4 / RDKit + RF, XGBoost, DNN) against graph neural networks (GCN, GAT, Attentive FP) on Tox21, ClinTox, BBBP and ESOL.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468880"/>
            <a:ext cx="53949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83096" y="263347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2. Evaluate honestly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3035808"/>
            <a:ext cx="499262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Scaffold splits, not random splits. ROC-AUC with PR-AUC and MCC, because ROC-AUC flatters a model when 3% of compounds are active.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51960"/>
            <a:ext cx="53949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441655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3.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818888"/>
            <a:ext cx="499262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SHAP on fingerprint bits mapped back onto atoms; attention attribution from the graph networks.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4251960"/>
            <a:ext cx="53949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83096" y="441655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4.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818888"/>
            <a:ext cx="499262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A Streamlit app: SMILES in, per-endpoint risk panel out, with a confidence flag for compounds outside the training chemical 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THE DIFFICULTY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Three things make this harder than a normal ML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58191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Small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31638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After standardisation: 7,611 molecules for Tox21, 1,955 for BBBP, 1,380 for ClinTox, 1,117 for ESOL. Deep models are data-hungry; this is the regime where they historically lose.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4173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81144" y="158191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Severe 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984248"/>
            <a:ext cx="31638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Tox21 actives run 3–16% per assay. A model predicting 'safe' for everything scores 95% accuracy and is useless. ROC-AUC barely moves; PR-AUC and MCC expose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4173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94192" y="158191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Scaffold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984248"/>
            <a:ext cx="316382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Real screening asks about NEW chemotypes. A random split leaks close analogues into the test set and inflates every score. Scaffold splits put whole Bemis-Murcko skeletons in test only.</a:t>
            </a:r>
          </a:p>
        </p:txBody>
      </p:sp>
      <p:pic>
        <p:nvPicPr>
          <p:cNvPr id="15" name="Picture 14" descr="fig_dataset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437" y="3840480"/>
            <a:ext cx="580722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Four MoleculeNet benchmarks covering toxicity and ADMET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173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Molecules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Tasks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tox21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Toxicity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12 nuclear-receptor &amp; stress-response assays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7,611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clintox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Toxicity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FDA-approved vs. failed clinical trials for toxicity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1,380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bbbp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ADMET — distribution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Blood-brain barrier penetration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1,955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esol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ADMET — solubility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Measured aqueous solubility, logS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1,117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02124"/>
                          </a:solidFill>
                        </a:rPr>
                        <a:t>Regression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56616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i="0">
                <a:solidFill>
                  <a:srgbClr val="5F6368"/>
                </a:solidFill>
                <a:latin typeface="Calibri"/>
              </a:rPr>
              <a:t>Standardisation pipeline applied to every molecule: parse SMILES → keep the largest organic fragment (strips salts and counter-ions) → neutralise charges → canonicalise → merge duplicate structures (conflicting labels dropped). This removes 2–5% of each raw file and prevents the same compound appearing in train and test under two different SMILES strings.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7200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4736592"/>
            <a:ext cx="10661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Why these four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3892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Tox21 is the standard multi-task toxicity benchmark (large, very imbalanced). ClinTox tests whether the model separates approved drugs from clinical toxicity failures. BBBP and ESOL are ADMET properties — one classification, one regression — so the benchmark covers both task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Three ways to turn a molecule into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58191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ECFP4 fingerprint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31638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2048 bits, radius 2. Each bit = presence of a circular atom environment. Sparse, fast, and every bit maps back to a concrete substructure — which is what makes SHAP interpretable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4173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81144" y="158191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RDKit 2D descriptors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984248"/>
            <a:ext cx="31638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~210 physicochemical and topological features: molecular weight, logP, TPSA, ring counts, fragment counts. Encodes decades of medicinal-chemistry knowledge as hand-designed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4173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94192" y="158191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Molecular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984248"/>
            <a:ext cx="31638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Atoms as nodes (58 features: element, degree, charge, hybridisation, aromaticity, chirality), bonds as edges (11 features). The network learns its own representation instead of being given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77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i="0">
                <a:solidFill>
                  <a:srgbClr val="1A73E8"/>
                </a:solidFill>
                <a:latin typeface="Calibri"/>
              </a:rPr>
              <a:t>The central question: does a learned representation beat a hand-designed one at this data scale?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452628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28738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Why it is here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/ RDKit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Strong, near-parameter-free baseline; the standard QSAR workhorse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XGBoost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/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Gradient boosting; handles imbalance via scale_pos_weight, exact TreeSHAP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DNN (MLP)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/ RDKit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Tests whether depth alone helps without graph 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GCN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Baseline message passing (Kipf &amp; Welling)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Attention over neighbours; bond features enter the attention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Attentive FP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Molecule-specific architecture with attentive readout (Xiong 2019)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Evaluation protocol: scaffold splits and imbalance-aware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50" b="1">
                <a:solidFill>
                  <a:srgbClr val="202124"/>
                </a:solidFill>
                <a:latin typeface="Calibri"/>
              </a:rPr>
              <a:t>— Balanced scaffold split, 80/10/10.</a:t>
            </a:r>
            <a:r>
              <a:rPr sz="1350">
                <a:solidFill>
                  <a:srgbClr val="5F6368"/>
                </a:solidFill>
                <a:latin typeface="Calibri"/>
              </a:rPr>
              <a:t>  Molecules grouped by Bemis-Murcko scaffold; no scaffold appears in two subsets. Large generic scaffolds go to train first so they do not swamp the test set.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50" b="1">
                <a:solidFill>
                  <a:srgbClr val="202124"/>
                </a:solidFill>
                <a:latin typeface="Calibri"/>
              </a:rPr>
              <a:t>— Three splits (seeds 0–2).</a:t>
            </a:r>
            <a:r>
              <a:rPr sz="1350">
                <a:solidFill>
                  <a:srgbClr val="5F6368"/>
                </a:solidFill>
                <a:latin typeface="Calibri"/>
              </a:rPr>
              <a:t>  Seed 0 is the deterministic DeepChem ordering; seeds 1–2 shuffle the scaffold sets. Every number reported is mean ± s.d. over the three.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50" b="1">
                <a:solidFill>
                  <a:srgbClr val="202124"/>
                </a:solidFill>
                <a:latin typeface="Calibri"/>
              </a:rPr>
              <a:t>— Missing labels masked, not imputed.</a:t>
            </a:r>
            <a:r>
              <a:rPr sz="1350">
                <a:solidFill>
                  <a:srgbClr val="5F6368"/>
                </a:solidFill>
                <a:latin typeface="Calibri"/>
              </a:rPr>
              <a:t>  Tox21 has ~25% missing entries. The loss and every metric ignore them rather than assuming 'not measured' means 'not toxic'.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450" b="1">
                <a:solidFill>
                  <a:srgbClr val="202124"/>
                </a:solidFill>
                <a:latin typeface="Calibri"/>
              </a:rPr>
              <a:t>— Thresholds tuned on validation, frozen for test.</a:t>
            </a:r>
            <a:r>
              <a:rPr sz="1350">
                <a:solidFill>
                  <a:srgbClr val="5F6368"/>
                </a:solidFill>
                <a:latin typeface="Calibri"/>
              </a:rPr>
              <a:t>  The MCC cut-off is chosen on the validation split. A naive 0.5 cut-off is meaningless at a 3% active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1732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784848" y="1581912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1984248"/>
            <a:ext cx="46268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Ranking quality across all thresholds. Reported because it is the field standard — but it is insensitive to class imbalance.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92608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84848" y="3090672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PR-AUC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493008"/>
            <a:ext cx="46268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Precision-recall area. Baseline equals the active rate, so it collapses honestly when actives are rare. This is the metric that matters for screening.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43484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84848" y="4599432"/>
            <a:ext cx="46268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MCC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5001768"/>
            <a:ext cx="46268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Matthews correlation on the thresholded calls. Balanced across both classes; near zero means the model's actual yes/no decisions are no better than chance.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17556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581912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SMILES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13533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Raw string from CSV or the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2576" y="1920240"/>
            <a:ext cx="73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A73E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8" y="1417320"/>
            <a:ext cx="1755648" cy="13716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596896" y="1581912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Standardise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1984248"/>
            <a:ext cx="13533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Largest fragment · uncharge · canonicalise · dedupe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1376" y="1920240"/>
            <a:ext cx="73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A73E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417320"/>
            <a:ext cx="1755648" cy="13716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25696" y="1581912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Featurise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1984248"/>
            <a:ext cx="13533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ECFP4 bits · RDKit descriptors · atom/bond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176" y="1920240"/>
            <a:ext cx="73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A73E8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1417320"/>
            <a:ext cx="17556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54496" y="1581912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Scaffold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984248"/>
            <a:ext cx="13533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Bemis-Murcko groups, 80/10/10, 3 seeds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8976" y="1920240"/>
            <a:ext cx="73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A73E8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2128" y="1417320"/>
            <a:ext cx="17556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83296" y="1581912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Train 9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1984248"/>
            <a:ext cx="13533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RF · XGBoost · DNN · GCN · GAT · Attentive FP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1920240"/>
            <a:ext cx="73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A73E8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0928" y="1417320"/>
            <a:ext cx="17556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912096" y="1581912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1984248"/>
            <a:ext cx="13533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ROC-AUC · PR-AUC · MCC · RMSE/R²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1089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8096" y="327355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Interpretability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675888"/>
            <a:ext cx="316382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TreeSHAP on ECFP4 bits, redistributed over the atoms of each circular environment → per-atom heat map. Attentive FP readout attention → per-atom attention map.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7" y="31089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17135" y="327355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Applicability domain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5" y="3675888"/>
            <a:ext cx="316382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Mean Tanimoto to the 5 nearest training molecules, thresholded at the 5th/25th percentile of the training set's own leave-one-out distribution, plus a descriptor-range check.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7" y="31089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66175" y="3273552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Streamlit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5" y="3675888"/>
            <a:ext cx="316382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SMILES in → risk panel across 16 endpoints, confidence badge, nearest training neighbours, SHAP and attention maps, benchmark tab.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0292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Code layout:  molrepbench/{config, data, features, models, metrics, pipeline, explain, applicability, predict}.py  ·  scripts/{prepare_data, run_benchmark, make_report_assets, make_presentation}.py  ·  app/streamlit_app.py  ·  tests/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Descriptor models win on 4 of 4 datasets — but mostly inside the error bars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_re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32288"/>
            <a:ext cx="11064240" cy="298758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6177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Best descriptor model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Best graph network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Winner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tox21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ROC-AUC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RF:rdkit  (0.838)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AttentiveFP:graph  (0.827)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Descriptor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clintox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ROC-AUC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RF:ecfp  (0.787)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AttentiveFP:graph  (0.7)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Descriptor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bbbp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ROC-AUC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RF:ecfp  (0.943)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GCN:graph  (0.94)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Descriptor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esol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RMSE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DNN:rdkit  (0.803)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AttentiveFP:graph  (0.831)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124"/>
                          </a:solidFill>
                        </a:rPr>
                        <a:t>Descriptor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2179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108 training runs: 9 configurations x 4 datasets x 3 scaffold splits. Three of the four margins sit inside one standard deviation — this is parity at lower cost, not superiority.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tox21 — full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5F6368"/>
                </a:solidFill>
                <a:latin typeface="Calibri"/>
              </a:rPr>
              <a:t>Tox21 2014 challenge: 12 nuclear-receptor (NR) and stress-response (SR) assays.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9202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Representation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RF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0.782 ± 0.034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0.447 ± 0.064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0.365 ± 0.064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RF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0.838 ± 0.031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0.526 ± 0.082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0.427 ± 0.048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XGB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0.770 ± 0.023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0.428 ± 0.065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0.345 ± 0.057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XGB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0.831 ± 0.027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0.515 ± 0.080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0.410 ± 0.048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DNN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0.783 ± 0.039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0.432 ± 0.058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0.363 ± 0.062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DNN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0.827 ± 0.015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0.481 ± 0.042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0.415 ± 0.026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GCN +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0.827 ± 0.023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0.479 ± 0.046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0.386 ± 0.041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GAT + graph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0.802 ± 0.019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0.443 ± 0.054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0.361 ± 0.032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AttentiveFP +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0.827 ± 0.020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0.469 ± 0.050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0.387 ± 0.048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Mean ± s.d. over 3 scaffold splits. Metrics averaged over tasks within a seed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clintox — full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5F6368"/>
                </a:solidFill>
                <a:latin typeface="Calibri"/>
              </a:rPr>
              <a:t>ClinTox: FDA-approved drugs vs. drugs that failed clinical trials for toxicity.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9202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Representation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RF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0.787 ± 0.065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0.654 ± 0.089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0.146 ± 0.163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RF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0.742 ± 0.150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0.651 ± 0.123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0.109 ± 0.168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XGB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0.557 ± 0.163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0.600 ± 0.089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0.072 ± 0.058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XGB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0.637 ± 0.069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0.606 ± 0.089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0.094 ± 0.042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DNN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0.507 ± 0.118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0.587 ± 0.107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0.052 ± 0.131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DNN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0.592 ± 0.101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0.619 ± 0.084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0.006 ± 0.048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GCN +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0.696 ± 0.111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0.627 ± 0.075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0.140 ± 0.090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GAT + graph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0.561 ± 0.176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0.587 ± 0.063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0.037 ± 0.042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AttentiveFP +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0.700 ± 0.063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0.571 ± 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0.108 ± 0.129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Mean ± s.d. over 3 scaffold splits. Metrics averaged over tasks within a seed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bbbp — full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5F6368"/>
                </a:solidFill>
                <a:latin typeface="Calibri"/>
              </a:rPr>
              <a:t>BBBP: blood-brain barrier penetration (1 = penetrant).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9202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Representation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RF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0.943 ± 0.040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0.982 ± 0.012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0.706 ± 0.143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RF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0.936 ± 0.052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0.977 ± 0.019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0.702 ± 0.182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XGB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0.916 ± 0.044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0.972 ± 0.012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0.621 ± 0.161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XGB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0.936 ± 0.052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0.978 ± 0.015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0.684 ± 0.171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DNN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0.928 ± 0.037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0.974 ± 0.016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0.668 ± 0.157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DNN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0.922 ± 0.064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0.974 ± 0.021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0.688 ± 0.180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GCN +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0.940 ± 0.039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0.981 ± 0.011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0.678 ± 0.168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GAT + graph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0.911 ± 0.045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0.969 ± 0.013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0.596 ± 0.064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AttentiveFP +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0.928 ± 0.031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0.973 ± 0.009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0.680 ± 0.088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Mean ± s.d. over 3 scaffold splits. Metrics averaged over tasks within a seed first.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esol — full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5F6368"/>
                </a:solidFill>
                <a:latin typeface="Calibri"/>
              </a:rPr>
              <a:t>ESOL (Delaney): measured aqueous solubility, log10(mol/L).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9202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Representation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RF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1.648 ± 0.568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1.275 ± 0.420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0.287 ± 0.289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RF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0.963 ± 0.269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0.720 ± 0.195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0.757 ± 0.074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XGB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1.511 ± 0.432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1.184 ± 0.304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0.402 ± 0.184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XGB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0.900 ± 0.228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0.672 ± 0.157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0.785 ± 0.067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DNN + ecfp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ECFP4 fingerprint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1.482 ± 0.496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1.145 ± 0.357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0.427 ± 0.218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DNN + rdkit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RDKit descriptors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0.803 ± 0.085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0.605 ± 0.074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0.819 ± 0.073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GCN +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0.922 ± 0.152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0.681 ± 0.103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0.754 ± 0.125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GAT + graph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0.986 ± 0.129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0.741 ± 0.126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0.737 ± 0.075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AttentiveFP +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Graph (GNN)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0.831 ± 0.142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0.629 ± 0.099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124"/>
                          </a:solidFill>
                        </a:rPr>
                        <a:t>0.804 ± 0.099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5F6368"/>
                </a:solidFill>
                <a:latin typeface="Calibri"/>
              </a:rPr>
              <a:t>Mean ± s.d. over 3 scaffold splits. Metrics averaged over tasks within a seed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RESULTS — THE BIGGEST EFFECT WE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The evaluation protocol moved scores more than the model did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fi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88" y="1417320"/>
            <a:ext cx="90751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617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02124"/>
                </a:solidFill>
                <a:latin typeface="Calibri"/>
              </a:rPr>
              <a:t>— Two scaffold-split protocols are in common use.</a:t>
            </a:r>
            <a:r>
              <a:rPr sz="1100">
                <a:solidFill>
                  <a:srgbClr val="5F6368"/>
                </a:solidFill>
                <a:latin typeface="Calibri"/>
              </a:rPr>
              <a:t>  DeepChem sorts scaffold groups largest-first and is deterministic; Chemprop shuffles them with a seed. Identical models, nothing else changed.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02124"/>
                </a:solidFill>
                <a:latin typeface="Calibri"/>
              </a:rPr>
              <a:t>— Mean difference: +0.120 ROC-AUC, reaching +0.168 on BBBP.</a:t>
            </a:r>
            <a:r>
              <a:rPr sz="1100">
                <a:solidFill>
                  <a:srgbClr val="5F6368"/>
                </a:solidFill>
                <a:latin typeface="Calibri"/>
              </a:rPr>
              <a:t>  On BBBP the best descriptor model beats the best graph network by 0.004 — the protocol is worth about forty times the architecture. Consistent in sign across almost every model family.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02124"/>
                </a:solidFill>
                <a:latin typeface="Calibri"/>
              </a:rPr>
              <a:t>— The effect shrinks as the dataset grows.</a:t>
            </a:r>
            <a:r>
              <a:rPr sz="1100">
                <a:solidFill>
                  <a:srgbClr val="5F6368"/>
                </a:solidFill>
                <a:latin typeface="Calibri"/>
              </a:rPr>
              <a:t>  BBBP (1,955 molecules) +0.168 and ClinTox (1,380) +0.147, but Tox21 (7,611) only +0.042. With more scaffolds available, which ones land in test matters less. Protocol sensitivity is a small-data pathology.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02124"/>
                </a:solidFill>
                <a:latin typeface="Calibri"/>
              </a:rPr>
              <a:t>— Neither protocol leaks.</a:t>
            </a:r>
            <a:r>
              <a:rPr sz="1100">
                <a:solidFill>
                  <a:srgbClr val="5F6368"/>
                </a:solidFill>
                <a:latin typeface="Calibri"/>
              </a:rPr>
              <a:t>  A Tanimoto audit puts near-duplicate rates at 0-4.4% in every split. The deterministic protocol simply asks a harder question — its test set is further from training (mean max similarity 0.43 vs 0.50) and differently balanced (53.6% positive in test vs 82.5% in train, against 77.6% vs 75.8% for the balanced protocol).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Why ROC-AUC alone would have misled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fig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176" y="1417320"/>
            <a:ext cx="7535743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800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450" b="1">
                <a:solidFill>
                  <a:srgbClr val="202124"/>
                </a:solidFill>
                <a:latin typeface="Calibri"/>
              </a:rPr>
              <a:t>— The gap between ROC-AUC and PR-AUC widens as actives get rarer.</a:t>
            </a:r>
            <a:r>
              <a:rPr sz="1350">
                <a:solidFill>
                  <a:srgbClr val="5F6368"/>
                </a:solidFill>
                <a:latin typeface="Calibri"/>
              </a:rPr>
              <a:t>  On the rarest assays a model with a respectable ROC-AUC has a PR-AUC near the random baseline.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450" b="1">
                <a:solidFill>
                  <a:srgbClr val="202124"/>
                </a:solidFill>
                <a:latin typeface="Calibri"/>
              </a:rPr>
              <a:t>— MCC exposes the decision quality.</a:t>
            </a:r>
            <a:r>
              <a:rPr sz="1350">
                <a:solidFill>
                  <a:srgbClr val="5F6368"/>
                </a:solidFill>
                <a:latin typeface="Calibri"/>
              </a:rPr>
              <a:t>  Several models reach ROC-AUC above 0.7 while their thresholded calls score an MCC near zero — ranking is fine, but the yes/no answer is not.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Every prediction comes with the substructure that caused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58191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SHAP → atoms (fingerprint models)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499262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TreeSHAP gives an exact contribution per ECFP4 bit. Each bit corresponds to a circular atom environment, so its SHAP value is spread over the atoms of that environment. Summing over all bits gives a per-atom score: red raises predicted risk, blue lowers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01968" y="1581912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Attention (graph networks)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84248"/>
            <a:ext cx="480974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Attentive FP's readout step attends from a molecule-level node to every atom. Those attention weights are read directly off the final timestep and rendered as a per-atom map — the model's own account of where it looked.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94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450" b="1">
                <a:solidFill>
                  <a:srgbClr val="202124"/>
                </a:solidFill>
                <a:latin typeface="Calibri"/>
              </a:rPr>
              <a:t>— The two methods answer different questions.</a:t>
            </a:r>
            <a:r>
              <a:rPr sz="1350">
                <a:solidFill>
                  <a:srgbClr val="5F6368"/>
                </a:solidFill>
                <a:latin typeface="Calibri"/>
              </a:rPr>
              <a:t>  SHAP is attribution with respect to the prediction (counterfactual: what if this bit were absent). Attention is a weight inside the forward pass — it shows where the model looked, which is not the same as what drove the output.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450" b="1">
                <a:solidFill>
                  <a:srgbClr val="202124"/>
                </a:solidFill>
                <a:latin typeface="Calibri"/>
              </a:rPr>
              <a:t>— Agreement is evidence, not proof.</a:t>
            </a:r>
            <a:r>
              <a:rPr sz="1350">
                <a:solidFill>
                  <a:srgbClr val="5F6368"/>
                </a:solidFill>
                <a:latin typeface="Calibri"/>
              </a:rPr>
              <a:t>  Where SHAP and attention highlight the same ring or functional group, confidence in the explanation is higher. Neither is a causal claim about the underlying biology.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INTERPRETABILITY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SHAP independently recovers the known pharmacophore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fig_shap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010" y="1325880"/>
            <a:ext cx="5394075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983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Calibri"/>
              </a:rPr>
              <a:t>— Bisphenol A (p=0.83) — both phenol rings red.</a:t>
            </a:r>
            <a:r>
              <a:rPr sz="1150">
                <a:solidFill>
                  <a:srgbClr val="5F6368"/>
                </a:solidFill>
                <a:latin typeface="Calibri"/>
              </a:rPr>
              <a:t>  Exactly the groups that mimic estradiol's hydroxyls and drive receptor binding. All 17 atoms carry positive attribution; the top bit is worth SHAP +0.88.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Calibri"/>
              </a:rPr>
              <a:t>— Estradiol (p=0.89) — the phenolic A-ring.</a:t>
            </a:r>
            <a:r>
              <a:rPr sz="1150">
                <a:solidFill>
                  <a:srgbClr val="5F6368"/>
                </a:solidFill>
                <a:latin typeface="Calibri"/>
              </a:rPr>
              <a:t>  The textbook ER pharmacophore; the saturated D-ring contributes little. The two biggest bits (+0.72, +0.64) both describe that aromatic hydroxyl environment.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Calibri"/>
              </a:rPr>
              <a:t>— Aspirin (p=0.52) — borderline, and the map says why.</a:t>
            </a:r>
            <a:r>
              <a:rPr sz="1150">
                <a:solidFill>
                  <a:srgbClr val="5F6368"/>
                </a:solidFill>
                <a:latin typeface="Calibri"/>
              </a:rPr>
              <a:t>  Ester and carboxyl render blue and the largest single bit is negative, but the benzene ring it shares with real ER ligands pulls back up. A genuine limitation, made legible.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INTERPRETABILITY —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Every fingerprint bit maps back to a drawable substructure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fig_shap_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1417320"/>
            <a:ext cx="10652760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2519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4416552"/>
            <a:ext cx="10661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Why this matters for a screening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81888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The explanation is not a saliency map that needs interpreting — it is a specific chemical motif. The dominant bit here carries SHAP +0.88 and is the hydroxyl-bearing aromatic environment: the ER pharmacophore. That is something a chemist can design away.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INTERPRETABILITY — WHAT DID NOT GENERALISE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Attention explained something on one model in four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fig_attention_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473" y="1417320"/>
            <a:ext cx="7763149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931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Calibri"/>
              </a:rPr>
              <a:t>— Same architecture, same molecule, four training sets.</a:t>
            </a:r>
            <a:r>
              <a:rPr sz="1150">
                <a:solidFill>
                  <a:srgbClr val="5F6368"/>
                </a:solidFill>
                <a:latin typeface="Calibri"/>
              </a:rPr>
              <a:t>  ClinTox: max/min 5.1-32.2, entropy 0.82-0.96 — sharply selective. Tox21, BBBP and ESOL: max/min 1.03-1.10, entropy 0.9999+ — indistinguishable from uniform.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Calibri"/>
              </a:rPr>
              <a:t>— Our first explanation was wrong.</a:t>
            </a:r>
            <a:r>
              <a:rPr sz="1150">
                <a:solidFill>
                  <a:srgbClr val="5F6368"/>
                </a:solidFill>
                <a:latin typeface="Calibri"/>
              </a:rPr>
              <a:t>  The partial run saw flat attention on ClinTox and blamed its 1,104 training molecules, predicting Tox21 would fix it. The full GPU run inverted it exactly: ClinTox is now the sharp one. Training-set size does not explain the pattern.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Calibri"/>
              </a:rPr>
              <a:t>— And the sharp model is the weakest classifier.</a:t>
            </a:r>
            <a:r>
              <a:rPr sz="1150">
                <a:solidFill>
                  <a:srgbClr val="5F6368"/>
                </a:solidFill>
                <a:latin typeface="Calibri"/>
              </a:rPr>
              <a:t>  ClinTox Attentive FP scores ROC-AUC 0.700. Concentrated attention is not evidence of a good model — so it cannot be assumed from the architecture, it has to be measured.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INTERPRETABILITY — THE HAZARD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An uninformative attention map does not look uninformative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fig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283" y="1417320"/>
            <a:ext cx="6499529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0233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Calibri"/>
              </a:rPr>
              <a:t>— The usual drawing convention hides the problem.</a:t>
            </a:r>
            <a:r>
              <a:rPr sz="1150">
                <a:solidFill>
                  <a:srgbClr val="5F6368"/>
                </a:solidFill>
                <a:latin typeface="Calibri"/>
              </a:rPr>
              <a:t>  Normalising each molecule against its own min and max stretches whatever spread exists to fill the colour range — so a readout varying in the fourth decimal place renders as a vivid, structured, entirely convincing picture. We draw against an absolute reference instead: full colour = 3x uniform attention.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Calibri"/>
              </a:rPr>
              <a:t>— So the app measures before it shows.</a:t>
            </a:r>
            <a:r>
              <a:rPr sz="1150">
                <a:solidFill>
                  <a:srgbClr val="5F6368"/>
                </a:solidFill>
                <a:latin typeface="Calibri"/>
              </a:rPr>
              <a:t>  Every attention map is scored for max/min ratio and normalised entropy. A map that fails is shown with an explicit warning pointing the user to the SHAP attribution — never presented as an explanation.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202124"/>
                </a:solidFill>
                <a:latin typeface="Calibri"/>
              </a:rPr>
              <a:t>— Where SHAP and attention disagree, SHAP had the chemistry.</a:t>
            </a:r>
            <a:r>
              <a:rPr sz="1150">
                <a:solidFill>
                  <a:srgbClr val="5F6368"/>
                </a:solidFill>
                <a:latin typeface="Calibri"/>
              </a:rPr>
              <a:t>  On bisphenol A, SHAP picks both phenol rings — the real pharmacophore. ClinTox attention picks the central quaternary carbon: structurally central, causally irrelevant.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The model says when it does not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0" i="0">
                <a:solidFill>
                  <a:srgbClr val="202124"/>
                </a:solidFill>
                <a:latin typeface="Calibri"/>
              </a:rPr>
              <a:t>A QSAR model is only valid inside the chemical space it was trained on. Every prediction in the app carries a domain badge computed from two independent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8600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245059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1 · Structural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52928"/>
            <a:ext cx="499262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Mean Tanimoto similarity (ECFP4) to the 5 nearest training molecules. Thresholds are the 5th and 25th percentile of the same statistic computed leave-one-out on the training set, so they adapt to how diverse each dataset actually 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2120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01968" y="2450592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2 · Descriptor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852928"/>
            <a:ext cx="480974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Fraction of the ~210 RDKit descriptors falling outside the min/max range seen in training. Catches compounds that are structurally similar but physicochemically extreme.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51960"/>
            <a:ext cx="110642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5528" y="44074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88038"/>
                </a:solidFill>
                <a:latin typeface="Calibri"/>
              </a:rPr>
              <a:t>In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442569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5F6368"/>
                </a:solidFill>
                <a:latin typeface="Calibri"/>
              </a:rPr>
              <a:t>Above the 25th percentile — predictions carry normal weight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01768"/>
            <a:ext cx="110642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95528" y="515721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E37400"/>
                </a:solidFill>
                <a:latin typeface="Calibri"/>
              </a:rPr>
              <a:t>Borderline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517550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5F6368"/>
                </a:solidFill>
                <a:latin typeface="Calibri"/>
              </a:rPr>
              <a:t>Between the 5th and 25th percentile — interpret with care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751576"/>
            <a:ext cx="110642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5528" y="590702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D93025"/>
                </a:solidFill>
                <a:latin typeface="Calibri"/>
              </a:rPr>
              <a:t>Out of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592531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 i="0">
                <a:solidFill>
                  <a:srgbClr val="5F6368"/>
                </a:solidFill>
                <a:latin typeface="Calibri"/>
              </a:rPr>
              <a:t>Below the 5th percentile — treat every number as unreliable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The deployed screening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58191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Risk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499262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16 endpoints scored from one SMILES: 12 Tox21 assays, 2 ClinTox tasks, BBB penetration and aqueous solubility — each with its tuned cut-off and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41732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83096" y="158191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Confidence badge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984248"/>
            <a:ext cx="499262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Domain level, Tanimoto to nearest neighbours, and the three most similar training compounds shown explicitly so the user can judge for themselves.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1752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318211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Why this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584448"/>
            <a:ext cx="499262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Per-endpoint SHAP atom heat map, the most influential ECFP4 environments drawn as substructures, and the Attentive FP attention map.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01752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83096" y="318211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Benchmark 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584448"/>
            <a:ext cx="499262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The full results table and figures ship inside the app, so a user can see exactly how much to trust each model before using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70916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8096" y="4873752"/>
            <a:ext cx="106619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Run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276088"/>
            <a:ext cx="10661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pip install -r requirements.txt  ·  python scripts/prepare_data.py  ·  python scripts/run_benchmark.py  ·  streamlit run app/streamlit_app.py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What the benchmark actually showed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 b="1">
                <a:solidFill>
                  <a:srgbClr val="202124"/>
                </a:solidFill>
                <a:latin typeface="Calibri"/>
              </a:rPr>
              <a:t>— Descriptor models won on 4 of 4 datasets — three inside one s.d.</a:t>
            </a:r>
            <a:r>
              <a:rPr sz="1200">
                <a:solidFill>
                  <a:srgbClr val="5F6368"/>
                </a:solidFill>
                <a:latin typeface="Calibri"/>
              </a:rPr>
              <a:t>  At this data scale the hand-designed representation holds its own against learned graph representations. Only ClinTox separates the families cleanly, so the claim is parity at far lower training cost, not superiority.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 b="1">
                <a:solidFill>
                  <a:srgbClr val="202124"/>
                </a:solidFill>
                <a:latin typeface="Calibri"/>
              </a:rPr>
              <a:t>— The split protocol beat the architecture by ~40x.</a:t>
            </a:r>
            <a:r>
              <a:rPr sz="1200">
                <a:solidFill>
                  <a:srgbClr val="5F6368"/>
                </a:solidFill>
                <a:latin typeface="Calibri"/>
              </a:rPr>
              <a:t>  Changing only the scaffold-split protocol moved ROC-AUC by 0.123 on average and 0.168 on BBBP, where the best descriptor model leads the best graph network by 0.004. The effect shrinks as datasets grow.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 b="1">
                <a:solidFill>
                  <a:srgbClr val="202124"/>
                </a:solidFill>
                <a:latin typeface="Calibri"/>
              </a:rPr>
              <a:t>— Representation should match the endpoint, not the pipeline.</a:t>
            </a:r>
            <a:r>
              <a:rPr sz="1200">
                <a:solidFill>
                  <a:srgbClr val="5F6368"/>
                </a:solidFill>
                <a:latin typeface="Calibri"/>
              </a:rPr>
              <a:t>  On ESOL, RDKit descriptors and graph networks both land at RMSE 0.80-0.99 while every ECFP4 model sits at 1.48-1.65. Solubility is bulk physicochemistry, which a substructure fingerprint cannot encode.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 b="1">
                <a:solidFill>
                  <a:srgbClr val="202124"/>
                </a:solidFill>
                <a:latin typeface="Calibri"/>
              </a:rPr>
              <a:t>— Scaffold splits cost every model real performance.</a:t>
            </a:r>
            <a:r>
              <a:rPr sz="1200">
                <a:solidFill>
                  <a:srgbClr val="5F6368"/>
                </a:solidFill>
                <a:latin typeface="Calibri"/>
              </a:rPr>
              <a:t>  Scores under scaffold splitting are substantially below the random-split numbers commonly quoted — generalising to new chemotypes is the hard part, and the honest protocol says so.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 b="1">
                <a:solidFill>
                  <a:srgbClr val="202124"/>
                </a:solidFill>
                <a:latin typeface="Calibri"/>
              </a:rPr>
              <a:t>— Metric choice changes the conclusion.</a:t>
            </a:r>
            <a:r>
              <a:rPr sz="1200">
                <a:solidFill>
                  <a:srgbClr val="5F6368"/>
                </a:solidFill>
                <a:latin typeface="Calibri"/>
              </a:rPr>
              <a:t>  On the rarest Tox21 assays, ROC-AUC suggests a usable model while PR-AUC and MCC show the thresholded decisions are near chance.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 b="1">
                <a:solidFill>
                  <a:srgbClr val="202124"/>
                </a:solidFill>
                <a:latin typeface="Calibri"/>
              </a:rPr>
              <a:t>— Variance across splits is large.</a:t>
            </a:r>
            <a:r>
              <a:rPr sz="1200">
                <a:solidFill>
                  <a:srgbClr val="5F6368"/>
                </a:solidFill>
                <a:latin typeface="Calibri"/>
              </a:rPr>
              <a:t>  Standard deviations over three scaffold splits often exceed the gap between model families — single-split comparisons in this field should be treated with suspicion.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 b="1">
                <a:solidFill>
                  <a:srgbClr val="202124"/>
                </a:solidFill>
                <a:latin typeface="Calibri"/>
              </a:rPr>
              <a:t>— SHAP delivered; attention only sometimes.</a:t>
            </a:r>
            <a:r>
              <a:rPr sz="1200">
                <a:solidFill>
                  <a:srgbClr val="5F6368"/>
                </a:solidFill>
                <a:latin typeface="Calibri"/>
              </a:rPr>
              <a:t>  SHAP recovered the ER pharmacophore on every example. Attention was informative on 1 of 4 fitted models and flat on the rest — so the app measures each map's concentration before showing it as an explanation.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1" i="0">
                <a:solidFill>
                  <a:srgbClr val="1A73E8"/>
                </a:solidFill>
                <a:latin typeface="Calibri"/>
              </a:rPr>
              <a:t>HONEST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000" b="1" i="0">
                <a:solidFill>
                  <a:srgbClr val="202124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1064240" cy="1524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1100" b="0" i="0">
                <a:solidFill>
                  <a:srgbClr val="5F6368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581912"/>
            <a:ext cx="49926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202124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499262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• Benchmark datasets carry their own assay noise and selection bias — ClinTox labels approval status, not toxicity per se.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• Hyperparameters were fixed per family rather than tuned per dataset, so a tuned GNN could close part of the gap.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• Attention is not causal explanation, and was informative on only 1 of 4 fitted models — which one cannot be predicted in advance.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• The protocol experiment covered the 6 descriptor models on all 4 datasets and GCN on 3; GAT and Attentive FP ran under the balanced protocol only.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• Three seeds bound the variance only loosely.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212080" cy="301752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01968" y="1581912"/>
            <a:ext cx="48097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A73E8"/>
                </a:solidFill>
                <a:latin typeface="Calibri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84248"/>
            <a:ext cx="480974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• Pretraining on large unlabelled corpora (ChemBERTa, GROVER, MolCLR) — the standard route to making graph models pay off on small datasets.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• Uncertainty estimates (deep ensembles, conformal prediction) rather than a domain badge alone.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• Multi-task transfer from Tox21's 12 assays into the smaller endpoints.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F6368"/>
                </a:solidFill>
                <a:latin typeface="Calibri"/>
              </a:rPr>
              <a:t>• Prospective validation on held-out compounds with new experimental measurements.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i="0">
                <a:solidFill>
                  <a:srgbClr val="5F6368"/>
                </a:solidFill>
                <a:latin typeface="Calibri"/>
              </a:rPr>
              <a:t>The headline result — hand-designed representations remaining competitive at this scale — is a statement about the data regime, not a claim that graph networks are the wrong tool. With 100× the labelled data the conclusion would likely reverse.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10312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4200" b="1" i="0">
                <a:solidFill>
                  <a:srgbClr val="202124"/>
                </a:solidFill>
                <a:latin typeface="Calibri"/>
              </a:rPr>
              <a:t>MolRepBench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8346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5F6368"/>
                </a:solidFill>
                <a:latin typeface="Calibri"/>
              </a:rPr>
              <a:t>Interpretable Toxicity &amp; ADMET Screening from Molecular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40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 i="0">
                <a:solidFill>
                  <a:srgbClr val="1A73E8"/>
                </a:solidFill>
                <a:latin typeface="Calibri"/>
              </a:rPr>
              <a:t>Benchmark · Interpretability · Applicability domain · Deployed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20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i="0">
                <a:solidFill>
                  <a:srgbClr val="202124"/>
                </a:solidFill>
                <a:latin typeface="Calibri"/>
              </a:rPr>
              <a:t>Shubham Gangwar   ·   MS23BTECH11027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50" b="0" i="0">
                <a:solidFill>
                  <a:srgbClr val="5F6368"/>
                </a:solidFill>
                <a:latin typeface="Calibri"/>
              </a:rPr>
              <a:t>Predictive Toxicology / AI in Drug Discovery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